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0" r:id="rId4"/>
    <p:sldId id="259" r:id="rId5"/>
    <p:sldId id="262" r:id="rId6"/>
    <p:sldId id="263" r:id="rId7"/>
    <p:sldId id="265" r:id="rId8"/>
    <p:sldId id="266" r:id="rId9"/>
    <p:sldId id="267" r:id="rId10"/>
    <p:sldId id="258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55.002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0,'2580'19'0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10:31:58.55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10:32:09.811"/>
    </inkml:context>
    <inkml:brush xml:id="br0">
      <inkml:brushProperty name="width" value="0.2" units="cm"/>
      <inkml:brushProperty name="height" value="0.4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2:49.312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0,'2462'19'0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18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A7D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8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A7D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6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sv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10078"/>
            <a:ext cx="8741664" cy="4617720"/>
          </a:xfrm>
          <a:prstGeom prst="roundRect">
            <a:avLst>
              <a:gd name="adj" fmla="val 2772"/>
            </a:avLst>
          </a:prstGeom>
          <a:solidFill>
            <a:srgbClr val="EDE8DF"/>
          </a:solidFill>
          <a:ln w="25400">
            <a:solidFill>
              <a:srgbClr val="8B5E1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6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AI-Driven Multi-Agent</a:t>
            </a:r>
            <a:endParaRPr lang="en-US" sz="4600" b="1" i="1" dirty="0">
              <a:latin typeface="Sylfaen" panose="010A0502050306030303" pitchFamily="18" charset="0"/>
            </a:endParaRPr>
          </a:p>
          <a:p>
            <a:pPr marL="0" indent="0">
              <a:buNone/>
            </a:pPr>
            <a:r>
              <a:rPr lang="en-US" sz="46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Optimization System</a:t>
            </a:r>
            <a:endParaRPr lang="en-US" sz="4600" b="1" i="1" dirty="0">
              <a:latin typeface="Sylfaen" panose="010A050205030603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185166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8B5E14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for Liner Shipping Network Design</a:t>
            </a:r>
            <a:endParaRPr lang="en-US" sz="4000" dirty="0">
              <a:latin typeface="Sylfaen" panose="010A05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254203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7D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Maritime Logistics  ·  Optimization  ·  Artificial Intelligence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3215640"/>
            <a:ext cx="1962912" cy="402336"/>
          </a:xfrm>
          <a:prstGeom prst="roundRect">
            <a:avLst>
              <a:gd name="adj" fmla="val 20455"/>
            </a:avLst>
          </a:prstGeom>
          <a:solidFill>
            <a:srgbClr val="EDE8DF"/>
          </a:solidFill>
          <a:ln w="25400">
            <a:solidFill>
              <a:srgbClr val="8B5E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232404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600" dirty="0">
                <a:solidFill>
                  <a:srgbClr val="2C2416"/>
                </a:solidFill>
                <a:latin typeface="Sylfaen" panose="010A0502050306030303" pitchFamily="18" charset="0"/>
                <a:ea typeface="Lato" pitchFamily="34" charset="-122"/>
                <a:cs typeface="Lato" pitchFamily="34" charset="-120"/>
              </a:rPr>
              <a:t>|  Project ID: P133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4045458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Sylfaen" panose="010A0502050306030303" pitchFamily="18" charset="0"/>
                <a:ea typeface="Lato" pitchFamily="34" charset="-122"/>
                <a:cs typeface="Lato" pitchFamily="34" charset="-120"/>
              </a:rPr>
              <a:t>Mallameeda Ajay Kumar (112301021)  |  Vaddi Nandeeshwar (112301035)  |  Mentor: Vivek Chaturvedi</a:t>
            </a:r>
            <a:endParaRPr lang="en-US" sz="1400" b="1" dirty="0">
              <a:latin typeface="Sylfaen" panose="010A050205030603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>
            <a:extLst>
              <a:ext uri="{FF2B5EF4-FFF2-40B4-BE49-F238E27FC236}">
                <a16:creationId xmlns:a16="http://schemas.microsoft.com/office/drawing/2014/main" id="{871263D8-202C-5E86-2716-C4EC9F1A3F1E}"/>
              </a:ext>
            </a:extLst>
          </p:cNvPr>
          <p:cNvSpPr/>
          <p:nvPr/>
        </p:nvSpPr>
        <p:spPr>
          <a:xfrm>
            <a:off x="201168" y="210078"/>
            <a:ext cx="8741664" cy="4617720"/>
          </a:xfrm>
          <a:prstGeom prst="roundRect">
            <a:avLst>
              <a:gd name="adj" fmla="val 2772"/>
            </a:avLst>
          </a:prstGeom>
          <a:solidFill>
            <a:srgbClr val="EDE8DF"/>
          </a:solidFill>
          <a:ln w="25400">
            <a:solidFill>
              <a:srgbClr val="8B5E1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510034" y="424458"/>
            <a:ext cx="1144637" cy="188937"/>
          </a:xfrm>
          <a:prstGeom prst="roundRect">
            <a:avLst>
              <a:gd name="adj" fmla="val 20734"/>
            </a:avLst>
          </a:prstGeom>
          <a:noFill/>
          <a:ln w="9525">
            <a:solidFill>
              <a:srgbClr val="A06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9508" y="468957"/>
            <a:ext cx="985689" cy="99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00" dirty="0">
                <a:solidFill>
                  <a:srgbClr val="A068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10034" y="650081"/>
            <a:ext cx="6049491" cy="346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Why Liner Shipping Network Design is</a:t>
            </a:r>
            <a:endParaRPr lang="en-US" sz="2700" b="1" i="1" dirty="0">
              <a:latin typeface="Sylfaen" panose="010A05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0034" y="1033760"/>
            <a:ext cx="3469928" cy="346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i="1" dirty="0">
                <a:solidFill>
                  <a:srgbClr val="A06818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Extraordinarily Hard</a:t>
            </a:r>
            <a:endParaRPr lang="en-US" sz="2700" b="1" i="1" dirty="0">
              <a:latin typeface="Sylfaen" panose="010A050205030603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0034" y="1518419"/>
            <a:ext cx="812393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5746" y="1746721"/>
            <a:ext cx="2660005" cy="28575"/>
          </a:xfrm>
          <a:prstGeom prst="rect">
            <a:avLst/>
          </a:prstGeom>
          <a:solidFill>
            <a:srgbClr val="A06818"/>
          </a:solidFill>
          <a:ln/>
        </p:spPr>
      </p:sp>
      <p:sp>
        <p:nvSpPr>
          <p:cNvPr id="8" name="Text 6"/>
          <p:cNvSpPr/>
          <p:nvPr/>
        </p:nvSpPr>
        <p:spPr>
          <a:xfrm>
            <a:off x="510034" y="1891829"/>
            <a:ext cx="1825526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Multi-Commodity Flow</a:t>
            </a:r>
            <a:endParaRPr lang="en-US" sz="1400" i="1" dirty="0">
              <a:latin typeface="Sylfaen" panose="010A050205030603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0034" y="2120429"/>
            <a:ext cx="263143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Simultaneously route thousands of cargo OD pairs across a shared vessel network — each with unique origin, destination, and demand volume</a:t>
            </a:r>
            <a:r>
              <a:rPr lang="en-US" sz="90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1923" y="1746721"/>
            <a:ext cx="2660079" cy="28575"/>
          </a:xfrm>
          <a:prstGeom prst="rect">
            <a:avLst/>
          </a:prstGeom>
          <a:solidFill>
            <a:srgbClr val="A06818"/>
          </a:solidFill>
          <a:ln/>
        </p:spPr>
      </p:sp>
      <p:sp>
        <p:nvSpPr>
          <p:cNvPr id="11" name="Text 9"/>
          <p:cNvSpPr/>
          <p:nvPr/>
        </p:nvSpPr>
        <p:spPr>
          <a:xfrm>
            <a:off x="3256211" y="1891829"/>
            <a:ext cx="1992064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Strategic Network Design</a:t>
            </a:r>
            <a:endParaRPr lang="en-US" sz="1400" i="1" dirty="0">
              <a:latin typeface="Sylfaen" panose="010A050205030603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56211" y="2120429"/>
            <a:ext cx="263150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 which service routes to operate, which vessel classes to deploy, and how to allocate capacity — all interdependently.</a:t>
            </a:r>
            <a:endParaRPr lang="en-US" sz="900" b="1" dirty="0"/>
          </a:p>
        </p:txBody>
      </p:sp>
      <p:sp>
        <p:nvSpPr>
          <p:cNvPr id="13" name="Shape 11"/>
          <p:cNvSpPr/>
          <p:nvPr/>
        </p:nvSpPr>
        <p:spPr>
          <a:xfrm>
            <a:off x="5988174" y="1746721"/>
            <a:ext cx="2660079" cy="28575"/>
          </a:xfrm>
          <a:prstGeom prst="rect">
            <a:avLst/>
          </a:prstGeom>
          <a:solidFill>
            <a:srgbClr val="A06818"/>
          </a:solidFill>
          <a:ln/>
        </p:spPr>
      </p:sp>
      <p:sp>
        <p:nvSpPr>
          <p:cNvPr id="14" name="Text 12"/>
          <p:cNvSpPr/>
          <p:nvPr/>
        </p:nvSpPr>
        <p:spPr>
          <a:xfrm>
            <a:off x="6002462" y="1891829"/>
            <a:ext cx="1953667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Transit Time Constraints</a:t>
            </a:r>
            <a:endParaRPr lang="en-US" sz="1400" i="1" dirty="0">
              <a:latin typeface="Sylfaen" panose="010A050205030603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02462" y="2120429"/>
            <a:ext cx="263150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cargo unit must reach its destination within a strict end-to-end time window — even across multiple transshipment hubs.</a:t>
            </a:r>
            <a:endParaRPr lang="en-US" sz="900" b="1" dirty="0"/>
          </a:p>
        </p:txBody>
      </p:sp>
      <p:sp>
        <p:nvSpPr>
          <p:cNvPr id="16" name="Text 14"/>
          <p:cNvSpPr/>
          <p:nvPr/>
        </p:nvSpPr>
        <p:spPr>
          <a:xfrm>
            <a:off x="510034" y="2598762"/>
            <a:ext cx="812393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3162" y="2885331"/>
            <a:ext cx="2105099" cy="384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i="1" dirty="0">
                <a:solidFill>
                  <a:srgbClr val="A06818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3+</a:t>
            </a:r>
            <a:endParaRPr lang="en-US" sz="3000" i="1" dirty="0">
              <a:latin typeface="Sylfaen" panose="010A050205030603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643" y="3397151"/>
            <a:ext cx="2462138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Interdependent Decision Layers</a:t>
            </a:r>
            <a:endParaRPr lang="en-US" sz="1350" i="1" dirty="0">
              <a:latin typeface="Sylfaen" panose="010A050205030603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0034" y="3625751"/>
            <a:ext cx="263143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9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Route selection, vessel assignment, and cargo flow routing must be solved jointly — making pure optimization computationally infeasible.</a:t>
            </a:r>
            <a:endParaRPr lang="en-US" sz="900" b="1" dirty="0"/>
          </a:p>
        </p:txBody>
      </p:sp>
      <p:sp>
        <p:nvSpPr>
          <p:cNvPr id="20" name="Text 18"/>
          <p:cNvSpPr/>
          <p:nvPr/>
        </p:nvSpPr>
        <p:spPr>
          <a:xfrm>
            <a:off x="3519339" y="2885331"/>
            <a:ext cx="2105174" cy="384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i="1" dirty="0">
                <a:solidFill>
                  <a:srgbClr val="A06818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NP</a:t>
            </a:r>
            <a:endParaRPr lang="en-US" sz="3000" i="1" dirty="0">
              <a:latin typeface="Sylfaen" panose="010A050205030603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704481" y="3397151"/>
            <a:ext cx="1734964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Complexity Class</a:t>
            </a:r>
            <a:endParaRPr lang="en-US" sz="1350" i="1" dirty="0">
              <a:latin typeface="Sylfaen" panose="010A050205030603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56211" y="3625751"/>
            <a:ext cx="263150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9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Joint optimization of service design + cargo routing + transit time enforcement is NP-Hard at industrial scale.</a:t>
            </a:r>
            <a:endParaRPr lang="en-US" sz="900" b="1" dirty="0"/>
          </a:p>
        </p:txBody>
      </p:sp>
      <p:sp>
        <p:nvSpPr>
          <p:cNvPr id="23" name="Text 21"/>
          <p:cNvSpPr/>
          <p:nvPr/>
        </p:nvSpPr>
        <p:spPr>
          <a:xfrm>
            <a:off x="6265590" y="2885331"/>
            <a:ext cx="2105174" cy="384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i="1" dirty="0">
                <a:solidFill>
                  <a:srgbClr val="A06818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5+</a:t>
            </a:r>
            <a:endParaRPr lang="en-US" sz="3000" i="1" dirty="0">
              <a:latin typeface="Sylfaen" panose="010A050205030603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50732" y="3397151"/>
            <a:ext cx="1734964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Global Trade Regions</a:t>
            </a:r>
            <a:endParaRPr lang="en-US" sz="1350" i="1" dirty="0">
              <a:latin typeface="Sylfaen" panose="010A050205030603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02462" y="3625751"/>
            <a:ext cx="263150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9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Networks span Asia, Europe, Americas, Africa, and the Middle East — requiring coordinated multi-regional architecture.</a:t>
            </a:r>
            <a:endParaRPr lang="en-US" sz="900" b="1" dirty="0"/>
          </a:p>
        </p:txBody>
      </p:sp>
      <p:sp>
        <p:nvSpPr>
          <p:cNvPr id="26" name="Text 24"/>
          <p:cNvSpPr/>
          <p:nvPr/>
        </p:nvSpPr>
        <p:spPr>
          <a:xfrm>
            <a:off x="510034" y="4104084"/>
            <a:ext cx="812393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0034" y="4332387"/>
            <a:ext cx="8123932" cy="386655"/>
          </a:xfrm>
          <a:prstGeom prst="roundRect">
            <a:avLst>
              <a:gd name="adj" fmla="val 12665"/>
            </a:avLst>
          </a:prstGeom>
          <a:solidFill>
            <a:schemeClr val="accent2">
              <a:lumMod val="60000"/>
              <a:lumOff val="40000"/>
            </a:schemeClr>
          </a:solidFill>
          <a:ln w="14288">
            <a:solidFill>
              <a:srgbClr val="E8E0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854" y="4463207"/>
            <a:ext cx="786229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000" dirty="0">
                <a:solidFill>
                  <a:srgbClr val="1A1208"/>
                </a:solidFill>
                <a:latin typeface="Sylfaen" panose="010A0502050306030303" pitchFamily="18" charset="0"/>
                <a:ea typeface="Lato" pitchFamily="34" charset="-122"/>
                <a:cs typeface="Lato" pitchFamily="34" charset="-120"/>
              </a:rPr>
              <a:t>Existing research either ignores </a:t>
            </a:r>
            <a:r>
              <a:rPr lang="en-US" sz="1000" b="1" dirty="0">
                <a:solidFill>
                  <a:srgbClr val="1A1208"/>
                </a:solidFill>
                <a:latin typeface="Sylfaen" panose="010A0502050306030303" pitchFamily="18" charset="0"/>
                <a:ea typeface="Lato" pitchFamily="34" charset="-122"/>
                <a:cs typeface="Lato" pitchFamily="34" charset="-120"/>
              </a:rPr>
              <a:t>transshipment flows</a:t>
            </a:r>
            <a:r>
              <a:rPr lang="en-US" sz="1000" dirty="0">
                <a:solidFill>
                  <a:srgbClr val="1A1208"/>
                </a:solidFill>
                <a:latin typeface="Sylfaen" panose="010A0502050306030303" pitchFamily="18" charset="0"/>
                <a:ea typeface="Lato" pitchFamily="34" charset="-122"/>
                <a:cs typeface="Lato" pitchFamily="34" charset="-120"/>
              </a:rPr>
              <a:t>, or violates </a:t>
            </a:r>
            <a:r>
              <a:rPr lang="en-US" sz="1000" b="1" dirty="0">
                <a:solidFill>
                  <a:srgbClr val="1A1208"/>
                </a:solidFill>
                <a:latin typeface="Sylfaen" panose="010A0502050306030303" pitchFamily="18" charset="0"/>
                <a:ea typeface="Lato" pitchFamily="34" charset="-122"/>
                <a:cs typeface="Lato" pitchFamily="34" charset="-120"/>
              </a:rPr>
              <a:t>cargo-level transit time constraints</a:t>
            </a:r>
            <a:r>
              <a:rPr lang="en-US" sz="1000" dirty="0">
                <a:solidFill>
                  <a:srgbClr val="1A1208"/>
                </a:solidFill>
                <a:latin typeface="Sylfaen" panose="010A0502050306030303" pitchFamily="18" charset="0"/>
                <a:ea typeface="Lato" pitchFamily="34" charset="-122"/>
                <a:cs typeface="Lato" pitchFamily="34" charset="-120"/>
              </a:rPr>
              <a:t> — our system solves both simultaneously.</a:t>
            </a:r>
            <a:endParaRPr lang="en-US" sz="1000" dirty="0">
              <a:latin typeface="Sylfaen" panose="010A0502050306030303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6CA05E6-F8B3-A09A-B94B-F8ABEF9B8A21}"/>
                  </a:ext>
                </a:extLst>
              </p14:cNvPr>
              <p14:cNvContentPartPr/>
              <p14:nvPr/>
            </p14:nvContentPartPr>
            <p14:xfrm>
              <a:off x="8130905" y="4972791"/>
              <a:ext cx="928800" cy="7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6CA05E6-F8B3-A09A-B94B-F8ABEF9B8A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76905" y="4865151"/>
                <a:ext cx="10364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EB166E4-902C-885E-D3BA-E31532D4E716}"/>
                  </a:ext>
                </a:extLst>
              </p14:cNvPr>
              <p14:cNvContentPartPr/>
              <p14:nvPr/>
            </p14:nvContentPartPr>
            <p14:xfrm>
              <a:off x="9706265" y="3530880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EB166E4-902C-885E-D3BA-E31532D4E7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52625" y="34232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FAF0FDC-5F0B-F95A-92C1-0C9FC9D22A0F}"/>
                  </a:ext>
                </a:extLst>
              </p14:cNvPr>
              <p14:cNvContentPartPr/>
              <p14:nvPr/>
            </p14:nvContentPartPr>
            <p14:xfrm>
              <a:off x="-808975" y="1463040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FAF0FDC-5F0B-F95A-92C1-0C9FC9D22A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844975" y="1391040"/>
                <a:ext cx="72000" cy="14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>
            <a:extLst>
              <a:ext uri="{FF2B5EF4-FFF2-40B4-BE49-F238E27FC236}">
                <a16:creationId xmlns:a16="http://schemas.microsoft.com/office/drawing/2014/main" id="{D6CA4137-85B4-9599-4493-5C8ADFB604F1}"/>
              </a:ext>
            </a:extLst>
          </p:cNvPr>
          <p:cNvSpPr/>
          <p:nvPr/>
        </p:nvSpPr>
        <p:spPr>
          <a:xfrm>
            <a:off x="201168" y="210078"/>
            <a:ext cx="8741664" cy="4617720"/>
          </a:xfrm>
          <a:prstGeom prst="roundRect">
            <a:avLst>
              <a:gd name="adj" fmla="val 2772"/>
            </a:avLst>
          </a:prstGeom>
          <a:solidFill>
            <a:srgbClr val="EDE8DF"/>
          </a:solidFill>
          <a:ln w="25400">
            <a:solidFill>
              <a:srgbClr val="8B5E1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77664" y="541213"/>
            <a:ext cx="524931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Our Hybrid Two-Stage Multi-Agent Solution</a:t>
            </a:r>
            <a:endParaRPr lang="en-US" sz="2800" i="1" dirty="0">
              <a:latin typeface="Sylfaen" panose="010A05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7664" y="884932"/>
            <a:ext cx="818867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77664" y="1051917"/>
            <a:ext cx="8188672" cy="6623"/>
          </a:xfrm>
          <a:prstGeom prst="rect">
            <a:avLst/>
          </a:prstGeom>
          <a:solidFill>
            <a:srgbClr val="FDFAF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7664" y="1140470"/>
            <a:ext cx="818867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77664" y="1285280"/>
            <a:ext cx="354806" cy="532284"/>
          </a:xfrm>
          <a:prstGeom prst="roundRect">
            <a:avLst>
              <a:gd name="adj" fmla="val 360058"/>
            </a:avLst>
          </a:prstGeom>
          <a:solidFill>
            <a:srgbClr val="A06818"/>
          </a:solidFill>
          <a:ln w="9525">
            <a:solidFill>
              <a:srgbClr val="B0702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541" y="1484858"/>
            <a:ext cx="133052" cy="1330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602" y="1373981"/>
            <a:ext cx="171338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Stage 1 — Genetic Algorithm</a:t>
            </a:r>
            <a:endParaRPr lang="en-US" sz="1200" b="1" dirty="0"/>
          </a:p>
        </p:txBody>
      </p:sp>
      <p:sp>
        <p:nvSpPr>
          <p:cNvPr id="11" name="Text 8"/>
          <p:cNvSpPr/>
          <p:nvPr/>
        </p:nvSpPr>
        <p:spPr>
          <a:xfrm>
            <a:off x="885602" y="1537841"/>
            <a:ext cx="778073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Hierarchical GA explores the massive solution space to generate candidate service routes</a:t>
            </a:r>
            <a:endParaRPr lang="en-US" sz="800" b="1" dirty="0"/>
          </a:p>
        </p:txBody>
      </p:sp>
      <p:sp>
        <p:nvSpPr>
          <p:cNvPr id="12" name="Shape 9"/>
          <p:cNvSpPr/>
          <p:nvPr/>
        </p:nvSpPr>
        <p:spPr>
          <a:xfrm>
            <a:off x="477664" y="1870695"/>
            <a:ext cx="354806" cy="532284"/>
          </a:xfrm>
          <a:prstGeom prst="roundRect">
            <a:avLst>
              <a:gd name="adj" fmla="val 360058"/>
            </a:avLst>
          </a:prstGeom>
          <a:solidFill>
            <a:srgbClr val="A06818"/>
          </a:solidFill>
          <a:ln w="9525">
            <a:solidFill>
              <a:srgbClr val="B0702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541" y="2070274"/>
            <a:ext cx="133052" cy="1330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5602" y="1959397"/>
            <a:ext cx="1593428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Stage 2 — MILP Optimizer</a:t>
            </a:r>
            <a:endParaRPr lang="en-US" sz="1200" b="1" dirty="0"/>
          </a:p>
        </p:txBody>
      </p:sp>
      <p:sp>
        <p:nvSpPr>
          <p:cNvPr id="15" name="Text 11"/>
          <p:cNvSpPr/>
          <p:nvPr/>
        </p:nvSpPr>
        <p:spPr>
          <a:xfrm>
            <a:off x="885602" y="2123256"/>
            <a:ext cx="778073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Mixed Integer Linear Programming selects optimal services and routes cargo flows with feasibility guarantees</a:t>
            </a:r>
            <a:endParaRPr lang="en-US" sz="800" b="1" dirty="0"/>
          </a:p>
        </p:txBody>
      </p:sp>
      <p:sp>
        <p:nvSpPr>
          <p:cNvPr id="16" name="Shape 12"/>
          <p:cNvSpPr/>
          <p:nvPr/>
        </p:nvSpPr>
        <p:spPr>
          <a:xfrm>
            <a:off x="477664" y="2456111"/>
            <a:ext cx="354806" cy="532284"/>
          </a:xfrm>
          <a:prstGeom prst="roundRect">
            <a:avLst>
              <a:gd name="adj" fmla="val 360058"/>
            </a:avLst>
          </a:prstGeom>
          <a:solidFill>
            <a:srgbClr val="A06818"/>
          </a:solidFill>
          <a:ln w="9525">
            <a:solidFill>
              <a:srgbClr val="B0702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541" y="2655689"/>
            <a:ext cx="133052" cy="1330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5602" y="2544812"/>
            <a:ext cx="1436415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Parallel Regional Agents</a:t>
            </a:r>
            <a:endParaRPr lang="en-US" sz="1200" b="1" dirty="0"/>
          </a:p>
        </p:txBody>
      </p:sp>
      <p:sp>
        <p:nvSpPr>
          <p:cNvPr id="19" name="Text 14"/>
          <p:cNvSpPr/>
          <p:nvPr/>
        </p:nvSpPr>
        <p:spPr>
          <a:xfrm>
            <a:off x="885602" y="2708672"/>
            <a:ext cx="778073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Asia · Europe · Americas · Africa · Middle East agents run concurrently — not sequentially</a:t>
            </a:r>
            <a:endParaRPr lang="en-US" sz="800" b="1" dirty="0"/>
          </a:p>
        </p:txBody>
      </p:sp>
      <p:sp>
        <p:nvSpPr>
          <p:cNvPr id="20" name="Shape 15"/>
          <p:cNvSpPr/>
          <p:nvPr/>
        </p:nvSpPr>
        <p:spPr>
          <a:xfrm>
            <a:off x="477664" y="3041526"/>
            <a:ext cx="354806" cy="532284"/>
          </a:xfrm>
          <a:prstGeom prst="roundRect">
            <a:avLst>
              <a:gd name="adj" fmla="val 360058"/>
            </a:avLst>
          </a:prstGeom>
          <a:solidFill>
            <a:srgbClr val="A06818"/>
          </a:solidFill>
          <a:ln w="9525">
            <a:solidFill>
              <a:srgbClr val="B0702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541" y="3241104"/>
            <a:ext cx="133052" cy="1330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5602" y="3130228"/>
            <a:ext cx="1567681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Global Orchestrator (LLM)</a:t>
            </a:r>
            <a:endParaRPr lang="en-US" sz="1200" b="1" dirty="0"/>
          </a:p>
        </p:txBody>
      </p:sp>
      <p:sp>
        <p:nvSpPr>
          <p:cNvPr id="23" name="Text 17"/>
          <p:cNvSpPr/>
          <p:nvPr/>
        </p:nvSpPr>
        <p:spPr>
          <a:xfrm>
            <a:off x="885602" y="3294087"/>
            <a:ext cx="778073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Coordinates agents, decomposes the problem, and resolves inter-regional conflicts</a:t>
            </a:r>
            <a:endParaRPr lang="en-US" sz="800" b="1" dirty="0"/>
          </a:p>
        </p:txBody>
      </p:sp>
      <p:sp>
        <p:nvSpPr>
          <p:cNvPr id="24" name="Shape 18"/>
          <p:cNvSpPr/>
          <p:nvPr/>
        </p:nvSpPr>
        <p:spPr>
          <a:xfrm>
            <a:off x="477664" y="3626941"/>
            <a:ext cx="354806" cy="532284"/>
          </a:xfrm>
          <a:prstGeom prst="roundRect">
            <a:avLst>
              <a:gd name="adj" fmla="val 360058"/>
            </a:avLst>
          </a:prstGeom>
          <a:solidFill>
            <a:srgbClr val="A06818"/>
          </a:solidFill>
          <a:ln w="9525">
            <a:solidFill>
              <a:srgbClr val="B07020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541" y="3826520"/>
            <a:ext cx="133052" cy="1330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85602" y="3715643"/>
            <a:ext cx="1960290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Demand Consistency Constraints</a:t>
            </a:r>
            <a:endParaRPr lang="en-US" sz="1200" b="1" dirty="0"/>
          </a:p>
        </p:txBody>
      </p:sp>
      <p:sp>
        <p:nvSpPr>
          <p:cNvPr id="27" name="Text 20"/>
          <p:cNvSpPr/>
          <p:nvPr/>
        </p:nvSpPr>
        <p:spPr>
          <a:xfrm>
            <a:off x="885602" y="3879503"/>
            <a:ext cx="778073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Prevents demand double-counting across regional boundaries — ensures global feasibility</a:t>
            </a:r>
            <a:endParaRPr lang="en-US" sz="800" b="1" dirty="0"/>
          </a:p>
        </p:txBody>
      </p:sp>
      <p:sp>
        <p:nvSpPr>
          <p:cNvPr id="28" name="Shape 21"/>
          <p:cNvSpPr/>
          <p:nvPr/>
        </p:nvSpPr>
        <p:spPr>
          <a:xfrm>
            <a:off x="477664" y="4212357"/>
            <a:ext cx="354806" cy="532284"/>
          </a:xfrm>
          <a:prstGeom prst="roundRect">
            <a:avLst>
              <a:gd name="adj" fmla="val 360058"/>
            </a:avLst>
          </a:prstGeom>
          <a:solidFill>
            <a:srgbClr val="A06818"/>
          </a:solidFill>
          <a:ln w="9525">
            <a:solidFill>
              <a:srgbClr val="B07020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541" y="4411935"/>
            <a:ext cx="133052" cy="13305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85602" y="4301058"/>
            <a:ext cx="152288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Industry Economic Model</a:t>
            </a:r>
            <a:endParaRPr lang="en-US" sz="1200" b="1" dirty="0"/>
          </a:p>
        </p:txBody>
      </p:sp>
      <p:sp>
        <p:nvSpPr>
          <p:cNvPr id="31" name="Text 23"/>
          <p:cNvSpPr/>
          <p:nvPr/>
        </p:nvSpPr>
        <p:spPr>
          <a:xfrm>
            <a:off x="885602" y="4464918"/>
            <a:ext cx="778073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cost decomposition: fixed + dynamic + handling + transshipment + port — no unrealistic profit inflation</a:t>
            </a:r>
            <a:endParaRPr lang="en-US" sz="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1DB9A7B-6179-5012-1B01-9233CE1C35F3}"/>
                  </a:ext>
                </a:extLst>
              </p14:cNvPr>
              <p14:cNvContentPartPr/>
              <p14:nvPr/>
            </p14:nvContentPartPr>
            <p14:xfrm>
              <a:off x="8130905" y="4972791"/>
              <a:ext cx="886680" cy="7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1DB9A7B-6179-5012-1B01-9233CE1C35F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76905" y="4865151"/>
                <a:ext cx="994320" cy="22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5029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System Architecture</a:t>
            </a:r>
            <a:endParaRPr lang="en-US" sz="3600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8449056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" y="1572768"/>
            <a:ext cx="1627632" cy="987552"/>
          </a:xfrm>
          <a:prstGeom prst="rect">
            <a:avLst/>
          </a:prstGeom>
          <a:solidFill>
            <a:srgbClr val="0A5C50"/>
          </a:solidFill>
          <a:ln w="12700">
            <a:solidFill>
              <a:srgbClr val="0A5C5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" y="1591056"/>
            <a:ext cx="15361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Inputs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(Ports, Fleet,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Dist, Demand)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55648" y="1828800"/>
            <a:ext cx="146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01952" y="1572768"/>
            <a:ext cx="1627632" cy="987552"/>
          </a:xfrm>
          <a:prstGeom prst="rect">
            <a:avLst/>
          </a:prstGeom>
          <a:solidFill>
            <a:srgbClr val="2A3C6E"/>
          </a:solidFill>
          <a:ln w="12700">
            <a:solidFill>
              <a:srgbClr val="2A3C6E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47672" y="1591056"/>
            <a:ext cx="15361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Orchestrator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(LLM-Based)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9584" y="1828800"/>
            <a:ext cx="146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75888" y="1572768"/>
            <a:ext cx="1627632" cy="987552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21608" y="1591056"/>
            <a:ext cx="15361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Decomposition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03520" y="1828800"/>
            <a:ext cx="146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49824" y="1572768"/>
            <a:ext cx="1627632" cy="98755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95544" y="1591056"/>
            <a:ext cx="15361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Parallel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Regional Agents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(×5 Regions)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77456" y="1828800"/>
            <a:ext cx="146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23760" y="1572768"/>
            <a:ext cx="1627632" cy="987552"/>
          </a:xfrm>
          <a:prstGeom prst="rect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591056"/>
            <a:ext cx="15361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Candidate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Services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93024" y="254203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893158" y="2775203"/>
            <a:ext cx="1627632" cy="987552"/>
          </a:xfrm>
          <a:prstGeom prst="rect">
            <a:avLst/>
          </a:prstGeom>
          <a:solidFill>
            <a:srgbClr val="2A3C6E"/>
          </a:solidFill>
          <a:ln w="12700">
            <a:solidFill>
              <a:srgbClr val="2A3C6E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92575" y="2786809"/>
            <a:ext cx="15361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&amp; Output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 rot="10800000">
            <a:off x="3506724" y="3019631"/>
            <a:ext cx="146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75888" y="2775203"/>
            <a:ext cx="1627632" cy="987552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21608" y="2793491"/>
            <a:ext cx="15361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Conflict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(Decision Agent)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 rot="10800000">
            <a:off x="5296838" y="3012597"/>
            <a:ext cx="146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66002" y="2775203"/>
            <a:ext cx="1627632" cy="98755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95544" y="2852928"/>
            <a:ext cx="15361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Aggregation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 rot="10800000">
            <a:off x="7050024" y="3067812"/>
            <a:ext cx="146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39938" y="2816352"/>
            <a:ext cx="1627632" cy="987552"/>
          </a:xfrm>
          <a:prstGeom prst="rect">
            <a:avLst/>
          </a:prstGeom>
          <a:solidFill>
            <a:srgbClr val="6B3A10"/>
          </a:solidFill>
          <a:ln w="12700">
            <a:solidFill>
              <a:srgbClr val="6B3A1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85658" y="2834640"/>
            <a:ext cx="15361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MILP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Optimization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(Flow+Selection)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28016" y="3977640"/>
            <a:ext cx="8887968" cy="475488"/>
          </a:xfrm>
          <a:prstGeom prst="roundRect">
            <a:avLst>
              <a:gd name="adj" fmla="val 9615"/>
            </a:avLst>
          </a:prstGeom>
          <a:solidFill>
            <a:srgbClr val="EDE8DF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" y="3995928"/>
            <a:ext cx="8705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Lato" pitchFamily="34" charset="0"/>
                <a:ea typeface="Lato" pitchFamily="34" charset="-122"/>
                <a:cs typeface="Lato" pitchFamily="34" charset="-120"/>
              </a:rPr>
              <a:t>5 Parallel Regions:   Asia  |   Europe  |   Americas  |  Africa  |  Middle East</a:t>
            </a:r>
            <a:endParaRPr lang="en-US" sz="1000" b="1" dirty="0"/>
          </a:p>
        </p:txBody>
      </p:sp>
      <p:sp>
        <p:nvSpPr>
          <p:cNvPr id="34" name="Text 32"/>
          <p:cNvSpPr/>
          <p:nvPr/>
        </p:nvSpPr>
        <p:spPr>
          <a:xfrm>
            <a:off x="219456" y="4526280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i="1" dirty="0">
                <a:latin typeface="Lato" pitchFamily="34" charset="0"/>
                <a:ea typeface="Lato" pitchFamily="34" charset="-122"/>
                <a:cs typeface="Lato" pitchFamily="34" charset="-120"/>
              </a:rPr>
              <a:t>Key: Parallel execution (NOT sequential) • Modular • Scalable • LLM-guided orchestration</a:t>
            </a:r>
            <a:endParaRPr lang="en-US" sz="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Hybrid Optimization Framework</a:t>
            </a:r>
            <a:endParaRPr lang="en-US" sz="3600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8449056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72768"/>
            <a:ext cx="4133088" cy="3310128"/>
          </a:xfrm>
          <a:prstGeom prst="roundRect">
            <a:avLst>
              <a:gd name="adj" fmla="val 1934"/>
            </a:avLst>
          </a:prstGeom>
          <a:solidFill>
            <a:srgbClr val="EDE8DF"/>
          </a:solidFill>
          <a:ln w="19050">
            <a:solidFill>
              <a:srgbClr val="8B5E14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72768"/>
            <a:ext cx="4133088" cy="475488"/>
          </a:xfrm>
          <a:prstGeom prst="rect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91056"/>
            <a:ext cx="3950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STAGE 1 — Genetic Algorithm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7472" y="2139696"/>
            <a:ext cx="54864" cy="201168"/>
          </a:xfrm>
          <a:prstGeom prst="rect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1305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Hierarchical GA (2 levels)</a:t>
            </a:r>
            <a:endParaRPr lang="en-US" sz="900" b="1" dirty="0"/>
          </a:p>
        </p:txBody>
      </p:sp>
      <p:sp>
        <p:nvSpPr>
          <p:cNvPr id="11" name="Shape 9"/>
          <p:cNvSpPr/>
          <p:nvPr/>
        </p:nvSpPr>
        <p:spPr>
          <a:xfrm>
            <a:off x="347472" y="2587752"/>
            <a:ext cx="54864" cy="201168"/>
          </a:xfrm>
          <a:prstGeom prst="rect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5786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Level 1 — ServiceGA: subset selection</a:t>
            </a:r>
            <a:endParaRPr lang="en-US" sz="900" b="1" dirty="0"/>
          </a:p>
        </p:txBody>
      </p:sp>
      <p:sp>
        <p:nvSpPr>
          <p:cNvPr id="13" name="Shape 11"/>
          <p:cNvSpPr/>
          <p:nvPr/>
        </p:nvSpPr>
        <p:spPr>
          <a:xfrm>
            <a:off x="347472" y="3035808"/>
            <a:ext cx="54864" cy="201168"/>
          </a:xfrm>
          <a:prstGeom prst="rect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30266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Level 2 — FrequencyGA: sailing frequency</a:t>
            </a:r>
            <a:endParaRPr lang="en-US" sz="900" b="1" dirty="0"/>
          </a:p>
        </p:txBody>
      </p:sp>
      <p:sp>
        <p:nvSpPr>
          <p:cNvPr id="15" name="Shape 13"/>
          <p:cNvSpPr/>
          <p:nvPr/>
        </p:nvSpPr>
        <p:spPr>
          <a:xfrm>
            <a:off x="347472" y="3483864"/>
            <a:ext cx="54864" cy="201168"/>
          </a:xfrm>
          <a:prstGeom prst="rect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474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Fitness = Revenue − Cost + Demand Satisfaction</a:t>
            </a:r>
            <a:endParaRPr lang="en-US" sz="900" b="1" dirty="0"/>
          </a:p>
        </p:txBody>
      </p:sp>
      <p:sp>
        <p:nvSpPr>
          <p:cNvPr id="17" name="Shape 15"/>
          <p:cNvSpPr/>
          <p:nvPr/>
        </p:nvSpPr>
        <p:spPr>
          <a:xfrm>
            <a:off x="347472" y="3931920"/>
            <a:ext cx="54864" cy="201168"/>
          </a:xfrm>
          <a:prstGeom prst="rect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9227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Early stopping + fleet pruning</a:t>
            </a:r>
            <a:endParaRPr lang="en-US" sz="900" b="1" dirty="0"/>
          </a:p>
        </p:txBody>
      </p:sp>
      <p:sp>
        <p:nvSpPr>
          <p:cNvPr id="19" name="Shape 17"/>
          <p:cNvSpPr/>
          <p:nvPr/>
        </p:nvSpPr>
        <p:spPr>
          <a:xfrm>
            <a:off x="347472" y="4379976"/>
            <a:ext cx="54864" cy="201168"/>
          </a:xfrm>
          <a:prstGeom prst="rect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43708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Generates diverse candidate services</a:t>
            </a:r>
            <a:endParaRPr lang="en-US" sz="900" b="1" dirty="0"/>
          </a:p>
        </p:txBody>
      </p:sp>
      <p:sp>
        <p:nvSpPr>
          <p:cNvPr id="21" name="Text 19"/>
          <p:cNvSpPr/>
          <p:nvPr/>
        </p:nvSpPr>
        <p:spPr>
          <a:xfrm>
            <a:off x="4462272" y="2962656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864608" y="1572768"/>
            <a:ext cx="4005072" cy="3310128"/>
          </a:xfrm>
          <a:prstGeom prst="roundRect">
            <a:avLst>
              <a:gd name="adj" fmla="val 1934"/>
            </a:avLst>
          </a:prstGeom>
          <a:solidFill>
            <a:srgbClr val="EDE8DF"/>
          </a:solidFill>
          <a:ln w="19050">
            <a:solidFill>
              <a:srgbClr val="2E8B57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Shape 21"/>
          <p:cNvSpPr/>
          <p:nvPr/>
        </p:nvSpPr>
        <p:spPr>
          <a:xfrm>
            <a:off x="4864608" y="1572768"/>
            <a:ext cx="4005072" cy="4754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59105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STAGE 2 — MILP (HubMILP)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956048" y="2139696"/>
            <a:ext cx="54864" cy="2011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130552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Mixed Integer Linear Program</a:t>
            </a:r>
            <a:endParaRPr lang="en-US" sz="900" b="1" dirty="0"/>
          </a:p>
        </p:txBody>
      </p:sp>
      <p:sp>
        <p:nvSpPr>
          <p:cNvPr id="27" name="Shape 25"/>
          <p:cNvSpPr/>
          <p:nvPr/>
        </p:nvSpPr>
        <p:spPr>
          <a:xfrm>
            <a:off x="4956048" y="2587752"/>
            <a:ext cx="54864" cy="2011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578608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Selects optimal service subset</a:t>
            </a:r>
            <a:endParaRPr lang="en-US" sz="900" b="1" dirty="0"/>
          </a:p>
        </p:txBody>
      </p:sp>
      <p:sp>
        <p:nvSpPr>
          <p:cNvPr id="29" name="Shape 27"/>
          <p:cNvSpPr/>
          <p:nvPr/>
        </p:nvSpPr>
        <p:spPr>
          <a:xfrm>
            <a:off x="4956048" y="3035808"/>
            <a:ext cx="54864" cy="2011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026664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Allocates cargo flows (direct + transshipment)</a:t>
            </a:r>
            <a:endParaRPr lang="en-US" sz="900" b="1" dirty="0"/>
          </a:p>
        </p:txBody>
      </p:sp>
      <p:sp>
        <p:nvSpPr>
          <p:cNvPr id="31" name="Shape 29"/>
          <p:cNvSpPr/>
          <p:nvPr/>
        </p:nvSpPr>
        <p:spPr>
          <a:xfrm>
            <a:off x="4956048" y="3483864"/>
            <a:ext cx="54864" cy="2011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347472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Enforces transit time constraints</a:t>
            </a:r>
            <a:endParaRPr lang="en-US" sz="900" b="1" dirty="0"/>
          </a:p>
        </p:txBody>
      </p:sp>
      <p:sp>
        <p:nvSpPr>
          <p:cNvPr id="33" name="Shape 31"/>
          <p:cNvSpPr/>
          <p:nvPr/>
        </p:nvSpPr>
        <p:spPr>
          <a:xfrm>
            <a:off x="4956048" y="3931920"/>
            <a:ext cx="54864" cy="2011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3922776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Maximizes profit, penalizes unserved demand</a:t>
            </a:r>
            <a:endParaRPr lang="en-US" sz="900" b="1" dirty="0"/>
          </a:p>
        </p:txBody>
      </p:sp>
      <p:sp>
        <p:nvSpPr>
          <p:cNvPr id="35" name="Shape 33"/>
          <p:cNvSpPr/>
          <p:nvPr/>
        </p:nvSpPr>
        <p:spPr>
          <a:xfrm>
            <a:off x="4956048" y="4379976"/>
            <a:ext cx="54864" cy="2011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4370832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Skipped when GA output is low quality</a:t>
            </a:r>
            <a:endParaRPr lang="en-US" sz="900" b="1" dirty="0"/>
          </a:p>
        </p:txBody>
      </p:sp>
      <p:sp>
        <p:nvSpPr>
          <p:cNvPr id="37" name="Shape 35"/>
          <p:cNvSpPr/>
          <p:nvPr/>
        </p:nvSpPr>
        <p:spPr>
          <a:xfrm>
            <a:off x="256032" y="4887116"/>
            <a:ext cx="8631936" cy="219456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901184"/>
            <a:ext cx="8449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 = Exploration of solution space   |   MILP = Exactness &amp; feasibility guarantee   |   Together = Best of both worlds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Industry-Aligned Economic Model</a:t>
            </a:r>
            <a:endParaRPr lang="en-US" sz="3600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8449056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" y="1536192"/>
            <a:ext cx="8449056" cy="804672"/>
          </a:xfrm>
          <a:prstGeom prst="roundRect">
            <a:avLst>
              <a:gd name="adj" fmla="val 9091"/>
            </a:avLst>
          </a:prstGeom>
          <a:solidFill>
            <a:srgbClr val="1A0800"/>
          </a:solidFill>
          <a:ln w="25400">
            <a:solidFill>
              <a:srgbClr val="8B5E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572768"/>
            <a:ext cx="8266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 =  Revenue  −  ( C_fixed  +  C_dynamic  +  C_handling  +  C_transshipment  +  C_port 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423160"/>
            <a:ext cx="8266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Revenue_od  =  Rate_od  ×  Demand_od</a:t>
            </a:r>
            <a:endParaRPr lang="en-US" sz="1150" b="1" dirty="0"/>
          </a:p>
        </p:txBody>
      </p:sp>
      <p:sp>
        <p:nvSpPr>
          <p:cNvPr id="10" name="Shape 7"/>
          <p:cNvSpPr/>
          <p:nvPr/>
        </p:nvSpPr>
        <p:spPr>
          <a:xfrm>
            <a:off x="256032" y="2880360"/>
            <a:ext cx="2670048" cy="987552"/>
          </a:xfrm>
          <a:prstGeom prst="roundRect">
            <a:avLst>
              <a:gd name="adj" fmla="val 6481"/>
            </a:avLst>
          </a:prstGeom>
          <a:solidFill>
            <a:srgbClr val="EDE8DF"/>
          </a:solidFill>
          <a:ln w="25400">
            <a:solidFill>
              <a:srgbClr val="A0282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" y="295351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02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C_fixed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47472" y="331927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latin typeface="Lato" pitchFamily="34" charset="0"/>
                <a:ea typeface="Lato" pitchFamily="34" charset="-122"/>
                <a:cs typeface="Lato" pitchFamily="34" charset="-120"/>
              </a:rPr>
              <a:t>Crew wages, insurance, maintenance (time-based)</a:t>
            </a:r>
            <a:endParaRPr lang="en-US" sz="850" b="1" dirty="0"/>
          </a:p>
        </p:txBody>
      </p:sp>
      <p:sp>
        <p:nvSpPr>
          <p:cNvPr id="13" name="Shape 10"/>
          <p:cNvSpPr/>
          <p:nvPr/>
        </p:nvSpPr>
        <p:spPr>
          <a:xfrm>
            <a:off x="3163824" y="2880360"/>
            <a:ext cx="2670048" cy="987552"/>
          </a:xfrm>
          <a:prstGeom prst="roundRect">
            <a:avLst>
              <a:gd name="adj" fmla="val 6481"/>
            </a:avLst>
          </a:prstGeom>
          <a:solidFill>
            <a:srgbClr val="EDE8DF"/>
          </a:solidFill>
          <a:ln w="25400">
            <a:solidFill>
              <a:srgbClr val="8B5E14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55264" y="295351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C_dynamic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255264" y="331927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latin typeface="Lato" pitchFamily="34" charset="0"/>
                <a:ea typeface="Lato" pitchFamily="34" charset="-122"/>
                <a:cs typeface="Lato" pitchFamily="34" charset="-120"/>
              </a:rPr>
              <a:t>Fuel: sailing (distance) + port idling (time)</a:t>
            </a:r>
            <a:endParaRPr lang="en-US" sz="850" b="1" dirty="0"/>
          </a:p>
        </p:txBody>
      </p:sp>
      <p:sp>
        <p:nvSpPr>
          <p:cNvPr id="16" name="Shape 13"/>
          <p:cNvSpPr/>
          <p:nvPr/>
        </p:nvSpPr>
        <p:spPr>
          <a:xfrm>
            <a:off x="6071616" y="2880360"/>
            <a:ext cx="2670048" cy="987552"/>
          </a:xfrm>
          <a:prstGeom prst="roundRect">
            <a:avLst>
              <a:gd name="adj" fmla="val 6481"/>
            </a:avLst>
          </a:prstGeom>
          <a:solidFill>
            <a:srgbClr val="EDE8DF"/>
          </a:solidFill>
          <a:ln w="25400">
            <a:solidFill>
              <a:srgbClr val="6B458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63056" y="295351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4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C_handling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63056" y="331927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latin typeface="Lato" pitchFamily="34" charset="0"/>
                <a:ea typeface="Lato" pitchFamily="34" charset="-122"/>
                <a:cs typeface="Lato" pitchFamily="34" charset="-120"/>
              </a:rPr>
              <a:t>Port-specific, container-type dependent (load/unload)</a:t>
            </a:r>
            <a:endParaRPr lang="en-US" sz="850" b="1" dirty="0"/>
          </a:p>
        </p:txBody>
      </p:sp>
      <p:sp>
        <p:nvSpPr>
          <p:cNvPr id="19" name="Shape 16"/>
          <p:cNvSpPr/>
          <p:nvPr/>
        </p:nvSpPr>
        <p:spPr>
          <a:xfrm>
            <a:off x="1627632" y="4114800"/>
            <a:ext cx="2670048" cy="987552"/>
          </a:xfrm>
          <a:prstGeom prst="roundRect">
            <a:avLst>
              <a:gd name="adj" fmla="val 6481"/>
            </a:avLst>
          </a:prstGeom>
          <a:solidFill>
            <a:srgbClr val="EDE8DF"/>
          </a:solidFill>
          <a:ln w="25400">
            <a:solidFill>
              <a:srgbClr val="2060A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719072" y="418795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C_transshipment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719072" y="455371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latin typeface="Lato" pitchFamily="34" charset="0"/>
                <a:ea typeface="Lato" pitchFamily="34" charset="-122"/>
                <a:cs typeface="Lato" pitchFamily="34" charset="-120"/>
              </a:rPr>
              <a:t>Handling adjustment + storage + transfer operations</a:t>
            </a:r>
            <a:endParaRPr lang="en-US" sz="850" b="1" dirty="0"/>
          </a:p>
        </p:txBody>
      </p:sp>
      <p:sp>
        <p:nvSpPr>
          <p:cNvPr id="22" name="Shape 19"/>
          <p:cNvSpPr/>
          <p:nvPr/>
        </p:nvSpPr>
        <p:spPr>
          <a:xfrm>
            <a:off x="4535424" y="4114800"/>
            <a:ext cx="2670048" cy="987552"/>
          </a:xfrm>
          <a:prstGeom prst="roundRect">
            <a:avLst>
              <a:gd name="adj" fmla="val 6481"/>
            </a:avLst>
          </a:prstGeom>
          <a:solidFill>
            <a:srgbClr val="EDE8DF"/>
          </a:solidFill>
          <a:ln w="25400">
            <a:solidFill>
              <a:srgbClr val="2E8B57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626864" y="418795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C_port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626864" y="455371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latin typeface="Lato" pitchFamily="34" charset="0"/>
                <a:ea typeface="Lato" pitchFamily="34" charset="-122"/>
                <a:cs typeface="Lato" pitchFamily="34" charset="-120"/>
              </a:rPr>
              <a:t>Port call charges + tug/escort fees</a:t>
            </a:r>
            <a:endParaRPr lang="en-US" sz="85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Data Pipeline &amp; Scale</a:t>
            </a:r>
            <a:endParaRPr lang="en-US" sz="3600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8449056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" y="1572768"/>
            <a:ext cx="4133088" cy="1444752"/>
          </a:xfrm>
          <a:prstGeom prst="roundRect">
            <a:avLst>
              <a:gd name="adj" fmla="val 5063"/>
            </a:avLst>
          </a:prstGeom>
          <a:solidFill>
            <a:srgbClr val="EDE8DF"/>
          </a:solidFill>
          <a:ln w="25400">
            <a:solidFill>
              <a:srgbClr val="0A5C5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572768"/>
            <a:ext cx="4133088" cy="438912"/>
          </a:xfrm>
          <a:prstGeom prst="rect">
            <a:avLst/>
          </a:prstGeom>
          <a:solidFill>
            <a:srgbClr val="0A5C50"/>
          </a:solidFill>
          <a:ln w="12700">
            <a:solidFill>
              <a:srgbClr val="0A5C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618488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ports.csv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84048" y="20848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i="1" dirty="0">
                <a:solidFill>
                  <a:srgbClr val="0A5C5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435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384048" y="26883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latin typeface="Lato" pitchFamily="34" charset="0"/>
                <a:ea typeface="Lato" pitchFamily="34" charset="-122"/>
                <a:cs typeface="Lato" pitchFamily="34" charset="-120"/>
              </a:rPr>
              <a:t>Ports</a:t>
            </a:r>
            <a:endParaRPr lang="en-US" sz="850" b="1" dirty="0"/>
          </a:p>
        </p:txBody>
      </p:sp>
      <p:sp>
        <p:nvSpPr>
          <p:cNvPr id="12" name="Text 9"/>
          <p:cNvSpPr/>
          <p:nvPr/>
        </p:nvSpPr>
        <p:spPr>
          <a:xfrm>
            <a:off x="2359152" y="2103120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UNLocode, coordinates, draft, port costs, handling rates</a:t>
            </a:r>
            <a:endParaRPr lang="en-US" sz="900" b="1" dirty="0"/>
          </a:p>
        </p:txBody>
      </p:sp>
      <p:sp>
        <p:nvSpPr>
          <p:cNvPr id="13" name="Shape 10"/>
          <p:cNvSpPr/>
          <p:nvPr/>
        </p:nvSpPr>
        <p:spPr>
          <a:xfrm>
            <a:off x="4645152" y="1572768"/>
            <a:ext cx="4133088" cy="1444752"/>
          </a:xfrm>
          <a:prstGeom prst="roundRect">
            <a:avLst>
              <a:gd name="adj" fmla="val 5063"/>
            </a:avLst>
          </a:prstGeom>
          <a:solidFill>
            <a:srgbClr val="EDE8DF"/>
          </a:solidFill>
          <a:ln w="25400">
            <a:solidFill>
              <a:srgbClr val="2A3C6E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45152" y="1572768"/>
            <a:ext cx="4133088" cy="438912"/>
          </a:xfrm>
          <a:prstGeom prst="rect">
            <a:avLst/>
          </a:prstGeom>
          <a:solidFill>
            <a:srgbClr val="2A3C6E"/>
          </a:solidFill>
          <a:ln w="12700">
            <a:solidFill>
              <a:srgbClr val="2A3C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6592" y="1618488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fleet_WorldLarge.csv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773168" y="20848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i="1" dirty="0">
                <a:solidFill>
                  <a:srgbClr val="2A3C6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6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4773168" y="26883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latin typeface="Lato" pitchFamily="34" charset="0"/>
                <a:ea typeface="Lato" pitchFamily="34" charset="-122"/>
                <a:cs typeface="Lato" pitchFamily="34" charset="-120"/>
              </a:rPr>
              <a:t>Vessel Classes</a:t>
            </a:r>
            <a:endParaRPr lang="en-US" sz="850" b="1" dirty="0"/>
          </a:p>
        </p:txBody>
      </p:sp>
      <p:sp>
        <p:nvSpPr>
          <p:cNvPr id="18" name="Text 15"/>
          <p:cNvSpPr/>
          <p:nvPr/>
        </p:nvSpPr>
        <p:spPr>
          <a:xfrm>
            <a:off x="6748272" y="2103120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Fleet size &amp; vessel type quantities for deployment</a:t>
            </a:r>
            <a:endParaRPr lang="en-US" sz="900" b="1" dirty="0"/>
          </a:p>
        </p:txBody>
      </p:sp>
      <p:sp>
        <p:nvSpPr>
          <p:cNvPr id="19" name="Shape 16"/>
          <p:cNvSpPr/>
          <p:nvPr/>
        </p:nvSpPr>
        <p:spPr>
          <a:xfrm>
            <a:off x="256032" y="3200400"/>
            <a:ext cx="4133088" cy="1444752"/>
          </a:xfrm>
          <a:prstGeom prst="roundRect">
            <a:avLst>
              <a:gd name="adj" fmla="val 5063"/>
            </a:avLst>
          </a:prstGeom>
          <a:solidFill>
            <a:srgbClr val="EDE8DF"/>
          </a:solidFill>
          <a:ln w="25400">
            <a:solidFill>
              <a:srgbClr val="4A306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56032" y="3200400"/>
            <a:ext cx="4133088" cy="438912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" y="3246120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dist_dense.csv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84048" y="371246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i="1" dirty="0">
                <a:solidFill>
                  <a:srgbClr val="4A306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62,002</a:t>
            </a:r>
            <a:endParaRPr lang="en-US" sz="2900" dirty="0"/>
          </a:p>
        </p:txBody>
      </p:sp>
      <p:sp>
        <p:nvSpPr>
          <p:cNvPr id="23" name="Text 20"/>
          <p:cNvSpPr/>
          <p:nvPr/>
        </p:nvSpPr>
        <p:spPr>
          <a:xfrm>
            <a:off x="384048" y="4315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latin typeface="Lato" pitchFamily="34" charset="0"/>
                <a:ea typeface="Lato" pitchFamily="34" charset="-122"/>
                <a:cs typeface="Lato" pitchFamily="34" charset="-120"/>
              </a:rPr>
              <a:t>Dist. Pairs</a:t>
            </a:r>
            <a:endParaRPr lang="en-US" sz="850" b="1" dirty="0"/>
          </a:p>
        </p:txBody>
      </p:sp>
      <p:sp>
        <p:nvSpPr>
          <p:cNvPr id="24" name="Text 21"/>
          <p:cNvSpPr/>
          <p:nvPr/>
        </p:nvSpPr>
        <p:spPr>
          <a:xfrm>
            <a:off x="2359152" y="3730752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Port-to-port distances, draft, Panama/Suez canal flags</a:t>
            </a:r>
            <a:endParaRPr lang="en-US" sz="900" b="1" dirty="0"/>
          </a:p>
        </p:txBody>
      </p:sp>
      <p:sp>
        <p:nvSpPr>
          <p:cNvPr id="25" name="Shape 22"/>
          <p:cNvSpPr/>
          <p:nvPr/>
        </p:nvSpPr>
        <p:spPr>
          <a:xfrm>
            <a:off x="4645152" y="3200400"/>
            <a:ext cx="4133088" cy="1444752"/>
          </a:xfrm>
          <a:prstGeom prst="roundRect">
            <a:avLst>
              <a:gd name="adj" fmla="val 5063"/>
            </a:avLst>
          </a:prstGeom>
          <a:solidFill>
            <a:srgbClr val="EDE8DF"/>
          </a:solidFill>
          <a:ln w="25400">
            <a:solidFill>
              <a:srgbClr val="6B3A1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45152" y="3200400"/>
            <a:ext cx="4133088" cy="438912"/>
          </a:xfrm>
          <a:prstGeom prst="rect">
            <a:avLst/>
          </a:prstGeom>
          <a:solidFill>
            <a:srgbClr val="6B3A10"/>
          </a:solidFill>
          <a:ln w="12700">
            <a:solidFill>
              <a:srgbClr val="6B3A1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6592" y="3246120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Demand_WorldLarge.csv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773168" y="371246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i="1" dirty="0">
                <a:solidFill>
                  <a:srgbClr val="6B3A1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9,622</a:t>
            </a:r>
            <a:endParaRPr lang="en-US" sz="2900" dirty="0"/>
          </a:p>
        </p:txBody>
      </p:sp>
      <p:sp>
        <p:nvSpPr>
          <p:cNvPr id="29" name="Text 26"/>
          <p:cNvSpPr/>
          <p:nvPr/>
        </p:nvSpPr>
        <p:spPr>
          <a:xfrm>
            <a:off x="4773168" y="4315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latin typeface="Lato" pitchFamily="34" charset="0"/>
                <a:ea typeface="Lato" pitchFamily="34" charset="-122"/>
                <a:cs typeface="Lato" pitchFamily="34" charset="-120"/>
              </a:rPr>
              <a:t>Demand Lanes</a:t>
            </a:r>
            <a:endParaRPr lang="en-US" sz="850" b="1" dirty="0"/>
          </a:p>
        </p:txBody>
      </p:sp>
      <p:sp>
        <p:nvSpPr>
          <p:cNvPr id="30" name="Text 27"/>
          <p:cNvSpPr/>
          <p:nvPr/>
        </p:nvSpPr>
        <p:spPr>
          <a:xfrm>
            <a:off x="6748272" y="3730752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Origin-Dest FFE/week, revenue rate, max transit time</a:t>
            </a:r>
            <a:endParaRPr lang="en-US" sz="900" b="1" dirty="0"/>
          </a:p>
        </p:txBody>
      </p:sp>
      <p:sp>
        <p:nvSpPr>
          <p:cNvPr id="31" name="Shape 28"/>
          <p:cNvSpPr/>
          <p:nvPr/>
        </p:nvSpPr>
        <p:spPr>
          <a:xfrm>
            <a:off x="256032" y="4773168"/>
            <a:ext cx="8631936" cy="292608"/>
          </a:xfrm>
          <a:prstGeom prst="rect">
            <a:avLst/>
          </a:prstGeom>
          <a:solidFill>
            <a:srgbClr val="EDE8DF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7472" y="4773168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Weekly demand: ~800,000+ TEU  |  Global coverage: 5 regions  |  Region-wise data partitioning with inter-regional connectivity</a:t>
            </a:r>
            <a:endParaRPr lang="en-US" sz="9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System Results &amp; Key Achievements</a:t>
            </a:r>
            <a:endParaRPr lang="en-US" sz="3200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8449056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" y="1572768"/>
            <a:ext cx="2029968" cy="1572768"/>
          </a:xfrm>
          <a:prstGeom prst="roundRect">
            <a:avLst>
              <a:gd name="adj" fmla="val 4070"/>
            </a:avLst>
          </a:prstGeom>
          <a:solidFill>
            <a:srgbClr val="EDE8DF"/>
          </a:solidFill>
          <a:ln w="19050">
            <a:solidFill>
              <a:srgbClr val="8B5E14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01752" y="1627632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750" b="1" i="1" dirty="0">
                <a:solidFill>
                  <a:srgbClr val="8B5E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5</a:t>
            </a:r>
            <a:endParaRPr lang="en-US" sz="4750" dirty="0"/>
          </a:p>
        </p:txBody>
      </p:sp>
      <p:sp>
        <p:nvSpPr>
          <p:cNvPr id="9" name="Text 6"/>
          <p:cNvSpPr/>
          <p:nvPr/>
        </p:nvSpPr>
        <p:spPr>
          <a:xfrm>
            <a:off x="301752" y="2450592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01752" y="27432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D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Parallel optimization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50592" y="1572768"/>
            <a:ext cx="2029968" cy="1572768"/>
          </a:xfrm>
          <a:prstGeom prst="roundRect">
            <a:avLst>
              <a:gd name="adj" fmla="val 4070"/>
            </a:avLst>
          </a:prstGeom>
          <a:solidFill>
            <a:srgbClr val="EDE8DF"/>
          </a:solidFill>
          <a:ln w="19050">
            <a:solidFill>
              <a:srgbClr val="6B4580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496312" y="1627632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750" b="1" i="1" dirty="0">
                <a:solidFill>
                  <a:srgbClr val="6B458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3</a:t>
            </a:r>
            <a:endParaRPr lang="en-US" sz="4750" dirty="0"/>
          </a:p>
        </p:txBody>
      </p:sp>
      <p:sp>
        <p:nvSpPr>
          <p:cNvPr id="13" name="Text 10"/>
          <p:cNvSpPr/>
          <p:nvPr/>
        </p:nvSpPr>
        <p:spPr>
          <a:xfrm>
            <a:off x="2496312" y="2450592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Iterations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496312" y="27432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D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Feedback loop cycles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45152" y="1572768"/>
            <a:ext cx="2029968" cy="1572768"/>
          </a:xfrm>
          <a:prstGeom prst="roundRect">
            <a:avLst>
              <a:gd name="adj" fmla="val 4070"/>
            </a:avLst>
          </a:prstGeom>
          <a:solidFill>
            <a:srgbClr val="EDE8DF"/>
          </a:solidFill>
          <a:ln w="19050">
            <a:solidFill>
              <a:srgbClr val="C68B1A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90872" y="1627632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750" b="1" i="1" dirty="0">
                <a:solidFill>
                  <a:srgbClr val="C68B1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≥70%</a:t>
            </a:r>
            <a:endParaRPr lang="en-US" sz="4750" dirty="0"/>
          </a:p>
        </p:txBody>
      </p:sp>
      <p:sp>
        <p:nvSpPr>
          <p:cNvPr id="17" name="Text 14"/>
          <p:cNvSpPr/>
          <p:nvPr/>
        </p:nvSpPr>
        <p:spPr>
          <a:xfrm>
            <a:off x="4690872" y="2450592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690872" y="27432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D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Demand coverage goal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839712" y="1572768"/>
            <a:ext cx="2029968" cy="1572768"/>
          </a:xfrm>
          <a:prstGeom prst="roundRect">
            <a:avLst>
              <a:gd name="adj" fmla="val 4070"/>
            </a:avLst>
          </a:prstGeom>
          <a:solidFill>
            <a:srgbClr val="EDE8DF"/>
          </a:solidFill>
          <a:ln w="19050">
            <a:solidFill>
              <a:srgbClr val="2E8B57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885432" y="1627632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750" b="1" i="1" dirty="0">
                <a:solidFill>
                  <a:srgbClr val="2E8B57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100%</a:t>
            </a:r>
            <a:endParaRPr lang="en-US" sz="4750" dirty="0"/>
          </a:p>
        </p:txBody>
      </p:sp>
      <p:sp>
        <p:nvSpPr>
          <p:cNvPr id="21" name="Text 18"/>
          <p:cNvSpPr/>
          <p:nvPr/>
        </p:nvSpPr>
        <p:spPr>
          <a:xfrm>
            <a:off x="6885432" y="2450592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Pipeline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885432" y="27432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D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Deterministic execution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9184" y="3291840"/>
            <a:ext cx="292608" cy="292608"/>
          </a:xfrm>
          <a:prstGeom prst="ellipse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3337560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1520" y="33101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Fully functional end-to-end pipeline (Prototype → Production system)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29184" y="3675888"/>
            <a:ext cx="292608" cy="292608"/>
          </a:xfrm>
          <a:prstGeom prst="ellipse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3721608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31520" y="369417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Parallel regional agents replacing sequential bottlenecks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329184" y="4059936"/>
            <a:ext cx="292608" cy="292608"/>
          </a:xfrm>
          <a:prstGeom prst="ellipse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4105656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1520" y="40782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Industry-aligned profit model eliminating unrealistic inflation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329184" y="4443984"/>
            <a:ext cx="292608" cy="292608"/>
          </a:xfrm>
          <a:prstGeom prst="ellipse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4489704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1520" y="446227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 demand consistency — no inter-regional double-counting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329184" y="4828032"/>
            <a:ext cx="292608" cy="292608"/>
          </a:xfrm>
          <a:prstGeom prst="ellipse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4873752"/>
            <a:ext cx="201168" cy="20116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1520" y="484632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WebSocket dashboard with full SQLite persistence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Challenges Solved &amp; Limitations</a:t>
            </a:r>
            <a:endParaRPr lang="en-US" sz="2800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8449056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72768"/>
            <a:ext cx="4133088" cy="3493008"/>
          </a:xfrm>
          <a:prstGeom prst="roundRect">
            <a:avLst>
              <a:gd name="adj" fmla="val 2094"/>
            </a:avLst>
          </a:prstGeom>
          <a:solidFill>
            <a:srgbClr val="EDE8DF"/>
          </a:solidFill>
          <a:ln w="25400">
            <a:solidFill>
              <a:srgbClr val="2E8B57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72768"/>
            <a:ext cx="4133088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627632"/>
            <a:ext cx="310896" cy="310896"/>
          </a:xfrm>
          <a:prstGeom prst="ellipse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6733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Challenges Solved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" y="2121408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8B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213055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Sequential bottlenecks → Parallel agents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7472" y="2596896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8B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1792" y="260604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Demand double-counting → Global constraint layer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7472" y="3072384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8B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" y="30815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Unrealistic profit models → Industry cost framework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7472" y="3547872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8B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" y="3557016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GA+MILP integration → Modular pipeline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47472" y="4023360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8B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1792" y="4032504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Agent sync issues → Event-driven architecture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47472" y="4498848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8B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1792" y="450799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Unstable orchestration → Pydantic + error isolation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1572768"/>
            <a:ext cx="4133088" cy="3493008"/>
          </a:xfrm>
          <a:prstGeom prst="roundRect">
            <a:avLst>
              <a:gd name="adj" fmla="val 2094"/>
            </a:avLst>
          </a:prstGeom>
          <a:solidFill>
            <a:srgbClr val="EDE8DF"/>
          </a:solidFill>
          <a:ln w="25400">
            <a:solidFill>
              <a:srgbClr val="C68B1A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1572768"/>
            <a:ext cx="4133088" cy="457200"/>
          </a:xfrm>
          <a:prstGeom prst="rect">
            <a:avLst/>
          </a:prstGeom>
          <a:solidFill>
            <a:srgbClr val="C68B1A"/>
          </a:solidFill>
          <a:ln w="12700">
            <a:solidFill>
              <a:srgbClr val="C68B1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46320" y="1627632"/>
            <a:ext cx="310896" cy="310896"/>
          </a:xfrm>
          <a:prstGeom prst="ellipse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73352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48656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846320" y="2121408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8B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⚠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120640" y="21305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Some cost parameters assumed (limited real-world data)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846320" y="2596896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8B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⚠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120640" y="2606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No real-time or dynamic data inputs yet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846320" y="3072384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8B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⚠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120640" y="3081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MILP global refinement not fully integrated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846320" y="3547872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8B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⚠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120640" y="35570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Limited learning-based adaptive strategies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846320" y="4023360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8B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⚠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120640" y="40325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No authentication / multi-user support yet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4846320" y="4498848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8B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⚠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120640" y="45079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Lato" pitchFamily="34" charset="0"/>
                <a:ea typeface="Lato" pitchFamily="34" charset="-122"/>
                <a:cs typeface="Lato" pitchFamily="34" charset="-120"/>
              </a:rPr>
              <a:t>Rate limiting &amp; HTTPS/WSS not production-hardened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5029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Project Evolution</a:t>
            </a:r>
            <a:endParaRPr lang="en-US" sz="4000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8449056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72768"/>
            <a:ext cx="2029968" cy="3218688"/>
          </a:xfrm>
          <a:prstGeom prst="roundRect">
            <a:avLst>
              <a:gd name="adj" fmla="val 3604"/>
            </a:avLst>
          </a:prstGeom>
          <a:solidFill>
            <a:srgbClr val="EDE8DF"/>
          </a:solidFill>
          <a:ln w="12700">
            <a:solidFill>
              <a:srgbClr val="3A3028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2029968" cy="457200"/>
          </a:xfrm>
          <a:prstGeom prst="rect">
            <a:avLst/>
          </a:prstGeom>
          <a:solidFill>
            <a:srgbClr val="1A5C40"/>
          </a:solidFill>
          <a:ln w="12700">
            <a:solidFill>
              <a:srgbClr val="1A5C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0020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Problem Formulation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651760"/>
            <a:ext cx="1700784" cy="18288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734056"/>
            <a:ext cx="1810512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Identified research gap: transshipment + transit time constraints. Defined two-stage framework. Mentor: Satisfactory.</a:t>
            </a:r>
            <a:endParaRPr lang="en-US" sz="900" b="1" dirty="0"/>
          </a:p>
        </p:txBody>
      </p:sp>
      <p:sp>
        <p:nvSpPr>
          <p:cNvPr id="12" name="Text 10"/>
          <p:cNvSpPr/>
          <p:nvPr/>
        </p:nvSpPr>
        <p:spPr>
          <a:xfrm>
            <a:off x="2304288" y="2926080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68880" y="1572768"/>
            <a:ext cx="2029968" cy="3218688"/>
          </a:xfrm>
          <a:prstGeom prst="roundRect">
            <a:avLst>
              <a:gd name="adj" fmla="val 3604"/>
            </a:avLst>
          </a:prstGeom>
          <a:solidFill>
            <a:srgbClr val="EDE8DF"/>
          </a:solidFill>
          <a:ln w="12700">
            <a:solidFill>
              <a:srgbClr val="3A3028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572768"/>
            <a:ext cx="2029968" cy="457200"/>
          </a:xfrm>
          <a:prstGeom prst="rect">
            <a:avLst/>
          </a:prstGeom>
          <a:solidFill>
            <a:srgbClr val="0A4C58"/>
          </a:solidFill>
          <a:ln w="12700">
            <a:solidFill>
              <a:srgbClr val="0A4C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60020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FEB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2084832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2651760"/>
            <a:ext cx="1700784" cy="18288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2734056"/>
            <a:ext cx="1810512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Studied joint optimization limits. Selected GA+MILP hybrid direction. Math model scoped. Mentor: Satisfactory.</a:t>
            </a:r>
            <a:endParaRPr lang="en-US" sz="900" b="1" dirty="0"/>
          </a:p>
        </p:txBody>
      </p:sp>
      <p:sp>
        <p:nvSpPr>
          <p:cNvPr id="19" name="Text 17"/>
          <p:cNvSpPr/>
          <p:nvPr/>
        </p:nvSpPr>
        <p:spPr>
          <a:xfrm>
            <a:off x="4498848" y="2926080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63440" y="1572768"/>
            <a:ext cx="2029968" cy="3218688"/>
          </a:xfrm>
          <a:prstGeom prst="roundRect">
            <a:avLst>
              <a:gd name="adj" fmla="val 3604"/>
            </a:avLst>
          </a:prstGeom>
          <a:solidFill>
            <a:srgbClr val="EDE8DF"/>
          </a:solidFill>
          <a:ln w="12700">
            <a:solidFill>
              <a:srgbClr val="3A3028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572768"/>
            <a:ext cx="2029968" cy="457200"/>
          </a:xfrm>
          <a:prstGeom prst="rect">
            <a:avLst/>
          </a:prstGeom>
          <a:solidFill>
            <a:srgbClr val="1A2E58"/>
          </a:solidFill>
          <a:ln w="12700">
            <a:solidFill>
              <a:srgbClr val="1A2E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60020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2084832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System Design &amp; Prototype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2651760"/>
            <a:ext cx="1700784" cy="18288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734056"/>
            <a:ext cx="1810512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Multi-agent architecture, first end-to-end pipeline, preliminary regional results. Mentor: Satisfactory.</a:t>
            </a:r>
            <a:endParaRPr lang="en-US" sz="900" b="1" dirty="0"/>
          </a:p>
        </p:txBody>
      </p:sp>
      <p:sp>
        <p:nvSpPr>
          <p:cNvPr id="26" name="Text 24"/>
          <p:cNvSpPr/>
          <p:nvPr/>
        </p:nvSpPr>
        <p:spPr>
          <a:xfrm>
            <a:off x="6693408" y="2926080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E1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58000" y="1572768"/>
            <a:ext cx="2029968" cy="3218688"/>
          </a:xfrm>
          <a:prstGeom prst="roundRect">
            <a:avLst>
              <a:gd name="adj" fmla="val 3604"/>
            </a:avLst>
          </a:prstGeom>
          <a:solidFill>
            <a:srgbClr val="EDE8DF"/>
          </a:solidFill>
          <a:ln w="25400">
            <a:solidFill>
              <a:srgbClr val="8B5E14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1572768"/>
            <a:ext cx="2029968" cy="457200"/>
          </a:xfrm>
          <a:prstGeom prst="rect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160020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APR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0" y="2084832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Production System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22592" y="2651760"/>
            <a:ext cx="1700784" cy="18288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2734056"/>
            <a:ext cx="1810512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latin typeface="Lato" pitchFamily="34" charset="0"/>
                <a:ea typeface="Lato" pitchFamily="34" charset="-122"/>
                <a:cs typeface="Lato" pitchFamily="34" charset="-120"/>
              </a:rPr>
              <a:t>Parallel agents, industry economic model, real-time dashboard, conflict resolution. Mentor: Good Progress.</a:t>
            </a:r>
            <a:endParaRPr lang="en-US" sz="9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Future Scope &amp; Roadmap</a:t>
            </a:r>
            <a:endParaRPr lang="en-US" sz="2500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8449056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" y="1572768"/>
            <a:ext cx="2816352" cy="3401568"/>
          </a:xfrm>
          <a:prstGeom prst="roundRect">
            <a:avLst>
              <a:gd name="adj" fmla="val 2273"/>
            </a:avLst>
          </a:prstGeom>
          <a:solidFill>
            <a:srgbClr val="EDE8DF"/>
          </a:solidFill>
          <a:ln w="19050">
            <a:solidFill>
              <a:srgbClr val="3A3028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572768"/>
            <a:ext cx="2816352" cy="658368"/>
          </a:xfrm>
          <a:prstGeom prst="rect">
            <a:avLst/>
          </a:prstGeom>
          <a:solidFill>
            <a:srgbClr val="0A5C50"/>
          </a:solidFill>
          <a:ln w="12700">
            <a:solidFill>
              <a:srgbClr val="0A5C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609344"/>
            <a:ext cx="2633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Phase 1</a:t>
            </a:r>
            <a:endParaRPr lang="en-US" sz="1450" dirty="0">
              <a:latin typeface="Sylfaen" panose="010A0502050306030303" pitchFamily="18" charset="0"/>
            </a:endParaRPr>
          </a:p>
          <a:p>
            <a:pPr marL="0" indent="0" algn="ctr">
              <a:buNone/>
            </a:pPr>
            <a:r>
              <a:rPr lang="en-US" sz="145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Production Hardening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0624" y="2249424"/>
            <a:ext cx="2487168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" y="2377440"/>
            <a:ext cx="54864" cy="219456"/>
          </a:xfrm>
          <a:prstGeom prst="rect">
            <a:avLst/>
          </a:prstGeom>
          <a:solidFill>
            <a:srgbClr val="0A5C50"/>
          </a:solidFill>
          <a:ln w="12700">
            <a:solidFill>
              <a:srgbClr val="0A5C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2359152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Auth &amp; authorization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8912" y="3054096"/>
            <a:ext cx="54864" cy="219456"/>
          </a:xfrm>
          <a:prstGeom prst="rect">
            <a:avLst/>
          </a:prstGeom>
          <a:solidFill>
            <a:srgbClr val="0A5C50"/>
          </a:solidFill>
          <a:ln w="12700">
            <a:solidFill>
              <a:srgbClr val="0A5C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" y="3035808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Rate limiting + HTTPS/WSS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8912" y="3730752"/>
            <a:ext cx="54864" cy="219456"/>
          </a:xfrm>
          <a:prstGeom prst="rect">
            <a:avLst/>
          </a:prstGeom>
          <a:solidFill>
            <a:srgbClr val="0A5C50"/>
          </a:solidFill>
          <a:ln w="12700">
            <a:solidFill>
              <a:srgbClr val="0A5C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" y="3712464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Redis caching for hot data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8912" y="4407408"/>
            <a:ext cx="54864" cy="219456"/>
          </a:xfrm>
          <a:prstGeom prst="rect">
            <a:avLst/>
          </a:prstGeom>
          <a:solidFill>
            <a:srgbClr val="0A5C50"/>
          </a:solidFill>
          <a:ln w="12700">
            <a:solidFill>
              <a:srgbClr val="0A5C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389120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Database connection pooling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00400" y="1572768"/>
            <a:ext cx="2816352" cy="3401568"/>
          </a:xfrm>
          <a:prstGeom prst="roundRect">
            <a:avLst>
              <a:gd name="adj" fmla="val 2273"/>
            </a:avLst>
          </a:prstGeom>
          <a:solidFill>
            <a:srgbClr val="EDE8DF"/>
          </a:solidFill>
          <a:ln w="19050">
            <a:solidFill>
              <a:srgbClr val="3A3028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0" y="1572768"/>
            <a:ext cx="2816352" cy="658368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1840" y="1609344"/>
            <a:ext cx="2633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Phase 2</a:t>
            </a:r>
            <a:endParaRPr lang="en-US" sz="1450" dirty="0">
              <a:latin typeface="Sylfaen" panose="010A0502050306030303" pitchFamily="18" charset="0"/>
            </a:endParaRPr>
          </a:p>
          <a:p>
            <a:pPr marL="0" indent="0" algn="ctr">
              <a:buNone/>
            </a:pPr>
            <a:r>
              <a:rPr lang="en-US" sz="145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Performance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364992" y="2249424"/>
            <a:ext cx="2487168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83280" y="2377440"/>
            <a:ext cx="54864" cy="219456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29584" y="2359152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MILP global refinement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383280" y="3054096"/>
            <a:ext cx="54864" cy="219456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29584" y="3035808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Event streaming via Kafka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383280" y="3730752"/>
            <a:ext cx="54864" cy="219456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29584" y="3712464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Horizontal pod autoscaling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383280" y="4407408"/>
            <a:ext cx="54864" cy="219456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29584" y="4389120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Real-world dataset integration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44768" y="1572768"/>
            <a:ext cx="2816352" cy="3401568"/>
          </a:xfrm>
          <a:prstGeom prst="roundRect">
            <a:avLst>
              <a:gd name="adj" fmla="val 2273"/>
            </a:avLst>
          </a:prstGeom>
          <a:solidFill>
            <a:srgbClr val="EDE8DF"/>
          </a:solidFill>
          <a:ln w="19050">
            <a:solidFill>
              <a:srgbClr val="3A3028"/>
            </a:solidFill>
            <a:prstDash val="solid"/>
          </a:ln>
          <a:effectLst>
            <a:outerShdw blurRad="127000" dist="50800" dir="8100000" algn="bl" rotWithShape="0">
              <a:srgbClr val="1A1208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44768" y="1572768"/>
            <a:ext cx="2816352" cy="658368"/>
          </a:xfrm>
          <a:prstGeom prst="rect">
            <a:avLst/>
          </a:prstGeom>
          <a:solidFill>
            <a:srgbClr val="6B3A10"/>
          </a:solidFill>
          <a:ln w="12700">
            <a:solidFill>
              <a:srgbClr val="6B3A1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36208" y="1609344"/>
            <a:ext cx="2633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Phase 3</a:t>
            </a:r>
            <a:endParaRPr lang="en-US" sz="1450" dirty="0">
              <a:latin typeface="Sylfaen" panose="010A0502050306030303" pitchFamily="18" charset="0"/>
            </a:endParaRPr>
          </a:p>
          <a:p>
            <a:pPr marL="0" indent="0" algn="ctr">
              <a:buNone/>
            </a:pPr>
            <a:r>
              <a:rPr lang="en-US" sz="145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Intelligence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309360" y="2249424"/>
            <a:ext cx="2487168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27648" y="2377440"/>
            <a:ext cx="54864" cy="219456"/>
          </a:xfrm>
          <a:prstGeom prst="rect">
            <a:avLst/>
          </a:prstGeom>
          <a:solidFill>
            <a:srgbClr val="6B3A10"/>
          </a:solidFill>
          <a:ln w="12700">
            <a:solidFill>
              <a:srgbClr val="6B3A1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73952" y="2359152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Learning-based RL agents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27648" y="3054096"/>
            <a:ext cx="54864" cy="219456"/>
          </a:xfrm>
          <a:prstGeom prst="rect">
            <a:avLst/>
          </a:prstGeom>
          <a:solidFill>
            <a:srgbClr val="6B3A10"/>
          </a:solidFill>
          <a:ln w="12700">
            <a:solidFill>
              <a:srgbClr val="6B3A1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73952" y="3035808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dynamic routing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327648" y="3730752"/>
            <a:ext cx="54864" cy="219456"/>
          </a:xfrm>
          <a:prstGeom prst="rect">
            <a:avLst/>
          </a:prstGeom>
          <a:solidFill>
            <a:srgbClr val="6B3A10"/>
          </a:solidFill>
          <a:ln w="12700">
            <a:solidFill>
              <a:srgbClr val="6B3A1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73952" y="3712464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Multi-user collaboration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27648" y="4407408"/>
            <a:ext cx="54864" cy="219456"/>
          </a:xfrm>
          <a:prstGeom prst="rect">
            <a:avLst/>
          </a:prstGeom>
          <a:solidFill>
            <a:srgbClr val="6B3A10"/>
          </a:solidFill>
          <a:ln w="12700">
            <a:solidFill>
              <a:srgbClr val="6B3A1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73952" y="4389120"/>
            <a:ext cx="2359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Large-scale benchmarking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50" b="1" i="1" dirty="0">
                <a:solidFill>
                  <a:srgbClr val="2C2416"/>
                </a:solidFill>
                <a:latin typeface="Sylfaen" panose="010A0502050306030303" pitchFamily="18" charset="0"/>
                <a:ea typeface="Spectral" pitchFamily="34" charset="-122"/>
                <a:cs typeface="Spectral" pitchFamily="34" charset="-120"/>
              </a:rPr>
              <a:t>Conclusion</a:t>
            </a:r>
            <a:endParaRPr lang="en-US" sz="4750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8449056" cy="16459"/>
          </a:xfrm>
          <a:prstGeom prst="rect">
            <a:avLst/>
          </a:prstGeom>
          <a:solidFill>
            <a:srgbClr val="3A3028"/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latin typeface="Lato" pitchFamily="34" charset="0"/>
                <a:ea typeface="Lato" pitchFamily="34" charset="-122"/>
                <a:cs typeface="Lato" pitchFamily="34" charset="-120"/>
              </a:rPr>
              <a:t>The system evolved from:</a:t>
            </a:r>
            <a:endParaRPr lang="en-US" sz="1150" b="1" dirty="0"/>
          </a:p>
        </p:txBody>
      </p:sp>
      <p:sp>
        <p:nvSpPr>
          <p:cNvPr id="7" name="Text 5"/>
          <p:cNvSpPr/>
          <p:nvPr/>
        </p:nvSpPr>
        <p:spPr>
          <a:xfrm>
            <a:off x="347472" y="171907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Prototype</a:t>
            </a:r>
            <a:r>
              <a:rPr lang="en-US" sz="1700" i="1" dirty="0">
                <a:solidFill>
                  <a:srgbClr val="8B5E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  →  Structured Pipeline  →  </a:t>
            </a:r>
            <a:r>
              <a:rPr lang="en-US" sz="1700" b="1" i="1" dirty="0">
                <a:solidFill>
                  <a:srgbClr val="2C2416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Production-Ready Multi-Agent System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9184" y="2331720"/>
            <a:ext cx="347472" cy="347472"/>
          </a:xfrm>
          <a:prstGeom prst="ellipse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3317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5E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Scalable Multi-Agent 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2679192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Lato" pitchFamily="34" charset="0"/>
                <a:ea typeface="Lato" pitchFamily="34" charset="-122"/>
                <a:cs typeface="Lato" pitchFamily="34" charset="-120"/>
              </a:rPr>
              <a:t>Five parallel regional agents coordinated by a Global Orchestrator — designed to scale to real-world network sizes without sequential bottlenecks.</a:t>
            </a:r>
            <a:endParaRPr lang="en-US" sz="1000" b="1" dirty="0"/>
          </a:p>
        </p:txBody>
      </p:sp>
      <p:sp>
        <p:nvSpPr>
          <p:cNvPr id="12" name="Shape 10"/>
          <p:cNvSpPr/>
          <p:nvPr/>
        </p:nvSpPr>
        <p:spPr>
          <a:xfrm>
            <a:off x="329184" y="3264408"/>
            <a:ext cx="347472" cy="347472"/>
          </a:xfrm>
          <a:prstGeom prst="ellipse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3264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32644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5E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Realistic Economic Modelling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" y="3611880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Lato" pitchFamily="34" charset="0"/>
                <a:ea typeface="Lato" pitchFamily="34" charset="-122"/>
                <a:cs typeface="Lato" pitchFamily="34" charset="-120"/>
              </a:rPr>
              <a:t>Five-component cost model aligned with industry practice eliminates profit inflation and enables credible ROI analysis for network configurations.</a:t>
            </a:r>
            <a:endParaRPr lang="en-US" sz="1000" b="1" dirty="0"/>
          </a:p>
        </p:txBody>
      </p:sp>
      <p:sp>
        <p:nvSpPr>
          <p:cNvPr id="16" name="Shape 14"/>
          <p:cNvSpPr/>
          <p:nvPr/>
        </p:nvSpPr>
        <p:spPr>
          <a:xfrm>
            <a:off x="329184" y="4197096"/>
            <a:ext cx="347472" cy="347472"/>
          </a:xfrm>
          <a:prstGeom prst="ellipse">
            <a:avLst/>
          </a:prstGeom>
          <a:solidFill>
            <a:srgbClr val="8B5E14"/>
          </a:solidFill>
          <a:ln w="12700">
            <a:solidFill>
              <a:srgbClr val="8B5E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4197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19709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5E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Strong Industrial Foundation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" y="4544568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Lato" pitchFamily="34" charset="0"/>
                <a:ea typeface="Lato" pitchFamily="34" charset="-122"/>
                <a:cs typeface="Lato" pitchFamily="34" charset="-120"/>
              </a:rPr>
              <a:t>Modular design, clean data pipelines, and hybrid GA+MILP framework provide a solid base for further research and deployment in commercial liner shipping.</a:t>
            </a:r>
            <a:endParaRPr lang="en-US" sz="1000" b="1" dirty="0"/>
          </a:p>
        </p:txBody>
      </p:sp>
      <p:sp>
        <p:nvSpPr>
          <p:cNvPr id="24" name="Shape 22"/>
          <p:cNvSpPr/>
          <p:nvPr/>
        </p:nvSpPr>
        <p:spPr>
          <a:xfrm>
            <a:off x="256032" y="5008098"/>
            <a:ext cx="8631936" cy="256032"/>
          </a:xfrm>
          <a:prstGeom prst="roundRect">
            <a:avLst>
              <a:gd name="adj" fmla="val 1428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3A30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502920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latin typeface="Lato" pitchFamily="34" charset="0"/>
                <a:ea typeface="Lato" pitchFamily="34" charset="-122"/>
                <a:cs typeface="Lato" pitchFamily="34" charset="-120"/>
              </a:rPr>
              <a:t>"Moving closer toward fully autonomous and economically optimized liner shipping network design"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1A1208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1A1208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84</TotalTime>
  <Words>1137</Words>
  <Application>Microsoft Office PowerPoint</Application>
  <PresentationFormat>On-screen Show (16:9)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Consolas</vt:lpstr>
      <vt:lpstr>Lato</vt:lpstr>
      <vt:lpstr>Spectral</vt:lpstr>
      <vt:lpstr>Sylfaen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 AJAY KUMAR</cp:lastModifiedBy>
  <cp:revision>6</cp:revision>
  <dcterms:created xsi:type="dcterms:W3CDTF">2026-05-10T05:59:43Z</dcterms:created>
  <dcterms:modified xsi:type="dcterms:W3CDTF">2026-05-10T17:45:14Z</dcterms:modified>
</cp:coreProperties>
</file>